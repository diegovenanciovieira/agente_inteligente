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32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4232A"/>
                </a:solidFill>
                <a:latin typeface="Calibri"/>
              </a:rPr>
              <a:t>Tempo de resposta (segundos)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de resposta (s)</c:v>
                </c:pt>
              </c:strCache>
            </c:strRef>
          </c:tx>
          <c:spPr>
            <a:solidFill>
              <a:srgbClr val="0E7C8A"/>
            </a:solidFill>
            <a:effectLst/>
          </c:spPr>
          <c:invertIfNegative val="0"/>
          <c:dLbls>
            <c:numFmt formatCode="0.0&quot;s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3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A33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Pergunta repetida
(cache)</c:v>
                  </c:pt>
                  <c:pt idx="1">
                    <c:v>Pergunta nova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</c:v>
                </c:pt>
                <c:pt idx="1">
                  <c:v>5</c:v>
                </c:pt>
              </c:numCache>
            </c:numRef>
          </c:val>
        </c:ser>
        <c:dLbls>
          <c:numFmt formatCode="0.0&quot;s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3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E7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4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943600" cy="5943600"/>
          </a:xfrm>
          <a:prstGeom prst="ellipse">
            <a:avLst/>
          </a:prstGeom>
          <a:solidFill>
            <a:srgbClr val="0E7C8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1AA0AE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658368"/>
            <a:ext cx="1051560" cy="1051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3936" y="8961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ARACAJU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66928" y="22860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Virtual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66928" y="3429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IA para o atendimento ao cidadão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66928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pPr indent="0" marL="0">
              <a:buNone/>
            </a:pPr>
            <a:r>
              <a:rPr lang="en-US" sz="16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Multi-secretaria  ·  Baseado nos documentos oficiais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SEMDE  ·  PROCON  ·  SERMULHER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CONTEXTO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do atendimento ao cidadão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11055096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12264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2002536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repetitivas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681728" y="2002536"/>
            <a:ext cx="66659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dúvidas (impostos, direitos, serviços) chegam o tempo todo às secretarias.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" y="2935224"/>
            <a:ext cx="11055096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172968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30632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Equipes sobrecarregadas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81728" y="3063240"/>
            <a:ext cx="66659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gastam horas respondendo manualmente o que já está na legislação.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3995928"/>
            <a:ext cx="11055096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33672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33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81328" y="4123944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horário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681728" y="4123944"/>
            <a:ext cx="66659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cidadão precisa de resposta a qualquer hora — não só no expediente.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5056632"/>
            <a:ext cx="11055096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294376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94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81328" y="5184648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dispersa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681728" y="5184648"/>
            <a:ext cx="6665976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 e procedimentos ficam espalhados e difíceis de encontrar.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assistente que responde com base</a:t>
            </a:r>
            <a:endParaRPr lang="en-US" sz="32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documentos oficiais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298948" cy="1737360"/>
          </a:xfrm>
          <a:prstGeom prst="roundRect">
            <a:avLst>
              <a:gd name="adj" fmla="val 6316"/>
            </a:avLst>
          </a:prstGeom>
          <a:solidFill>
            <a:srgbClr val="EAF3F4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2459736"/>
            <a:ext cx="548640" cy="54864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18488" y="2441448"/>
            <a:ext cx="4018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Disponível 24/7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" y="3063240"/>
            <a:ext cx="46588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em linguagem natural, a qualquer hora, em segundos.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323076" y="2148840"/>
            <a:ext cx="5298948" cy="1737360"/>
          </a:xfrm>
          <a:prstGeom prst="roundRect">
            <a:avLst>
              <a:gd name="adj" fmla="val 6316"/>
            </a:avLst>
          </a:prstGeom>
          <a:solidFill>
            <a:srgbClr val="EAF3F4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33972" y="2459736"/>
            <a:ext cx="548640" cy="54864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1" name="Text 9"/>
          <p:cNvSpPr/>
          <p:nvPr/>
        </p:nvSpPr>
        <p:spPr>
          <a:xfrm>
            <a:off x="6633972" y="24597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74636" y="2441448"/>
            <a:ext cx="4018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inventa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33972" y="3063240"/>
            <a:ext cx="46588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apenas os documentos da secretaria; se não sabe, recusa com honestidade.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4206240"/>
            <a:ext cx="5298948" cy="1737360"/>
          </a:xfrm>
          <a:prstGeom prst="roundRect">
            <a:avLst>
              <a:gd name="adj" fmla="val 6316"/>
            </a:avLst>
          </a:prstGeom>
          <a:solidFill>
            <a:srgbClr val="EAF3F4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4517136"/>
            <a:ext cx="548640" cy="54864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18488" y="4498848"/>
            <a:ext cx="4018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familiar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77824" y="5120640"/>
            <a:ext cx="46588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no estilo WhatsApp — fácil para qualquer cidadão.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23076" y="4206240"/>
            <a:ext cx="5298948" cy="1737360"/>
          </a:xfrm>
          <a:prstGeom prst="roundRect">
            <a:avLst>
              <a:gd name="adj" fmla="val 6316"/>
            </a:avLst>
          </a:prstGeom>
          <a:solidFill>
            <a:srgbClr val="EAF3F4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33972" y="4517136"/>
            <a:ext cx="548640" cy="54864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21" name="Text 19"/>
          <p:cNvSpPr/>
          <p:nvPr/>
        </p:nvSpPr>
        <p:spPr>
          <a:xfrm>
            <a:off x="6633972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74636" y="4498848"/>
            <a:ext cx="40187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self-hosted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633972" y="5120640"/>
            <a:ext cx="46588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na infraestrutura da Prefeitura, sem enviar dados a terceiros (LGPD).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pergunta à resposta, em segundos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245516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1902" y="2395728"/>
            <a:ext cx="585216" cy="585216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6" name="Text 4"/>
          <p:cNvSpPr/>
          <p:nvPr/>
        </p:nvSpPr>
        <p:spPr>
          <a:xfrm>
            <a:off x="1501902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127248"/>
            <a:ext cx="2272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9808" y="3611880"/>
            <a:ext cx="20894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cidadão escreve sua dúvida em linguagem natural.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40380" y="2148840"/>
            <a:ext cx="384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33572" y="2148840"/>
            <a:ext cx="245516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8546" y="2395728"/>
            <a:ext cx="585216" cy="585216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2" name="Text 10"/>
          <p:cNvSpPr/>
          <p:nvPr/>
        </p:nvSpPr>
        <p:spPr>
          <a:xfrm>
            <a:off x="4368546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5012" y="3127248"/>
            <a:ext cx="2272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616452" y="3611880"/>
            <a:ext cx="20894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pergunta já foi respondida, retorna na hora (~0,3s).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07024" y="2148840"/>
            <a:ext cx="384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00216" y="2148840"/>
            <a:ext cx="245516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35190" y="2395728"/>
            <a:ext cx="585216" cy="585216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8" name="Text 16"/>
          <p:cNvSpPr/>
          <p:nvPr/>
        </p:nvSpPr>
        <p:spPr>
          <a:xfrm>
            <a:off x="7235190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91656" y="3127248"/>
            <a:ext cx="2272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(RAG)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483096" y="3611880"/>
            <a:ext cx="20894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Senão, procura a resposta nos documentos oficiais.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3668" y="2148840"/>
            <a:ext cx="3840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66860" y="2148840"/>
            <a:ext cx="245516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101834" y="2395728"/>
            <a:ext cx="585216" cy="5852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10101834" y="239572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258300" y="3127248"/>
            <a:ext cx="22722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349740" y="3611880"/>
            <a:ext cx="208940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com base nos documentos — ou recusa se não souber.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4892040"/>
            <a:ext cx="110550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 em primeiro lugar:  </a:t>
            </a:r>
            <a:pPr algn="l"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informação não está na base, o assistente diz que não sabe e orienta procurar a secretaria — nunca inventa.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na infraestrutura da Prefeitura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0A4C57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4871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Cidadão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3063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chat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(web / WhatsApp)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858768" y="2286000"/>
            <a:ext cx="685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44568" y="22860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0E7C8A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44568" y="24871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27448" y="3063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AnythingLLM + Microserviço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Cache semântico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836408" y="2286000"/>
            <a:ext cx="685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522208" y="2286000"/>
            <a:ext cx="32918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1AA0AE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22208" y="24871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05088" y="30632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(IA local, CPU)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qwen2.5:7b + bge-m3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892040"/>
            <a:ext cx="11055096" cy="868680"/>
          </a:xfrm>
          <a:prstGeom prst="roundRect">
            <a:avLst>
              <a:gd name="adj" fmla="val 10526"/>
            </a:avLst>
          </a:prstGeom>
          <a:solidFill>
            <a:srgbClr val="0A4C5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892040"/>
            <a:ext cx="1050645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Privacidade por design: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dado do cidadão sai para serviços externos. Modelos de IA e documentos ficam 100% nos servidores da Prefeitura (LGPD).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plataforma, várias secretarias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380232" cy="2606040"/>
          </a:xfrm>
          <a:prstGeom prst="roundRect">
            <a:avLst>
              <a:gd name="adj" fmla="val 4211"/>
            </a:avLst>
          </a:prstGeom>
          <a:solidFill>
            <a:srgbClr val="EAF3F4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423160"/>
            <a:ext cx="2831592" cy="603504"/>
          </a:xfrm>
          <a:prstGeom prst="roundRect">
            <a:avLst>
              <a:gd name="adj" fmla="val 12121"/>
            </a:avLst>
          </a:prstGeom>
          <a:solidFill>
            <a:srgbClr val="0E7C8A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423160"/>
            <a:ext cx="2831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SEMDE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3246120"/>
            <a:ext cx="283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Desenvolvimento Econômico e Inovação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86968" y="3977640"/>
            <a:ext cx="274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fiscais, ISSQN e apoio a empresas.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04360" y="2148840"/>
            <a:ext cx="3380232" cy="2606040"/>
          </a:xfrm>
          <a:prstGeom prst="roundRect">
            <a:avLst>
              <a:gd name="adj" fmla="val 4211"/>
            </a:avLst>
          </a:prstGeom>
          <a:solidFill>
            <a:srgbClr val="EAF3F4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8680" y="2423160"/>
            <a:ext cx="2831592" cy="603504"/>
          </a:xfrm>
          <a:prstGeom prst="roundRect">
            <a:avLst>
              <a:gd name="adj" fmla="val 12121"/>
            </a:avLst>
          </a:prstGeom>
          <a:solidFill>
            <a:srgbClr val="0E7C8A"/>
          </a:solidFill>
          <a:ln/>
        </p:spPr>
      </p:sp>
      <p:sp>
        <p:nvSpPr>
          <p:cNvPr id="11" name="Text 9"/>
          <p:cNvSpPr/>
          <p:nvPr/>
        </p:nvSpPr>
        <p:spPr>
          <a:xfrm>
            <a:off x="4678680" y="2423160"/>
            <a:ext cx="2831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78680" y="3246120"/>
            <a:ext cx="283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do Consumidor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24400" y="3977640"/>
            <a:ext cx="274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Orientações baseadas no Código de Defesa do Consumidor.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41792" y="2148840"/>
            <a:ext cx="3380232" cy="2606040"/>
          </a:xfrm>
          <a:prstGeom prst="roundRect">
            <a:avLst>
              <a:gd name="adj" fmla="val 4211"/>
            </a:avLst>
          </a:prstGeom>
          <a:solidFill>
            <a:srgbClr val="EAF3F4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16112" y="2423160"/>
            <a:ext cx="2831592" cy="603504"/>
          </a:xfrm>
          <a:prstGeom prst="roundRect">
            <a:avLst>
              <a:gd name="adj" fmla="val 12121"/>
            </a:avLst>
          </a:prstGeom>
          <a:solidFill>
            <a:srgbClr val="0E7C8A"/>
          </a:solidFill>
          <a:ln/>
        </p:spPr>
      </p:sp>
      <p:sp>
        <p:nvSpPr>
          <p:cNvPr id="16" name="Text 14"/>
          <p:cNvSpPr/>
          <p:nvPr/>
        </p:nvSpPr>
        <p:spPr>
          <a:xfrm>
            <a:off x="8516112" y="2423160"/>
            <a:ext cx="28315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SERMULHER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16112" y="3246120"/>
            <a:ext cx="28315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Políticas para as Mulheres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561832" y="3977640"/>
            <a:ext cx="2740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Serviços de acolhimento, denúncia e canais de ajuda.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507492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secretaria tem sua própria base, cache e fila de perguntas. Adicionar uma nova é simples e rápido.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Rápido, eficiente e sem custo por pergunta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248945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2139696"/>
            <a:ext cx="2489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~0,3 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2816352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em cache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22142" y="2011680"/>
            <a:ext cx="248945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2142" y="2139696"/>
            <a:ext cx="2489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22142" y="2816352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nova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2011680"/>
            <a:ext cx="248945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7356" y="2139696"/>
            <a:ext cx="2489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277356" y="2816352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pergunta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32570" y="2011680"/>
            <a:ext cx="2489454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32570" y="2139696"/>
            <a:ext cx="248945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32570" y="2816352"/>
            <a:ext cx="2489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3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66928" y="3703320"/>
          <a:ext cx="603504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040880" y="3703320"/>
            <a:ext cx="4581144" cy="2468880"/>
          </a:xfrm>
          <a:prstGeom prst="roundRect">
            <a:avLst>
              <a:gd name="adj" fmla="val 4444"/>
            </a:avLst>
          </a:prstGeom>
          <a:solidFill>
            <a:srgbClr val="0A4C57"/>
          </a:solidFill>
          <a:ln/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040880" y="3931920"/>
            <a:ext cx="4581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15×</a:t>
            </a:r>
            <a:endParaRPr lang="en-US" sz="5400" dirty="0"/>
          </a:p>
        </p:txBody>
      </p:sp>
      <p:sp>
        <p:nvSpPr>
          <p:cNvPr id="19" name="Text 16"/>
          <p:cNvSpPr/>
          <p:nvPr/>
        </p:nvSpPr>
        <p:spPr>
          <a:xfrm>
            <a:off x="7315200" y="5029200"/>
            <a:ext cx="40325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rápido quando a pergunta se repete — e a maioria das dúvidas de fato se repete.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MELHORIA CONTÍNUA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secretarias no controle do conhecimento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11055096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31136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2103120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Cidadão pergunta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4773168" y="2103120"/>
            <a:ext cx="65745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que ainda não está na base.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11055096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255264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3127248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na fila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73168" y="3127248"/>
            <a:ext cx="65745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sem resposta é registrada no painel.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4059936"/>
            <a:ext cx="11055096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79392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81328" y="4151376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 responde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4773168" y="4151376"/>
            <a:ext cx="65745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painel, com a resposta oficial.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5084064"/>
            <a:ext cx="11055096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81328" y="5175504"/>
            <a:ext cx="3291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conhecimento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773168" y="5175504"/>
            <a:ext cx="65745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passa a responder na hora.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61722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editar código: o próprio time da secretaria alimenta e melhora o assistente.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e conformidade (LGPD)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529894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441448"/>
            <a:ext cx="512064" cy="512064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441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2423160"/>
            <a:ext cx="40645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na Prefeitura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77824" y="3063240"/>
            <a:ext cx="46588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 documentos rodam nos servidores próprios; nada vai para a nuvem de terceiros.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23076" y="2148840"/>
            <a:ext cx="529894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5684" y="2441448"/>
            <a:ext cx="512064" cy="512064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1" name="Text 9"/>
          <p:cNvSpPr/>
          <p:nvPr/>
        </p:nvSpPr>
        <p:spPr>
          <a:xfrm>
            <a:off x="6615684" y="24414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28916" y="2423160"/>
            <a:ext cx="40645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em vez de inventar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33972" y="3063240"/>
            <a:ext cx="46588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assistente só responde o que está nos documentos oficiais.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178808"/>
            <a:ext cx="529894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471416"/>
            <a:ext cx="512064" cy="512064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471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72768" y="4453128"/>
            <a:ext cx="40645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contra abuso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77824" y="5093208"/>
            <a:ext cx="46588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de requisições por usuário evita sobrecarga e uso indevido.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23076" y="4178808"/>
            <a:ext cx="5298948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15684" y="4471416"/>
            <a:ext cx="512064" cy="512064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21" name="Text 19"/>
          <p:cNvSpPr/>
          <p:nvPr/>
        </p:nvSpPr>
        <p:spPr>
          <a:xfrm>
            <a:off x="6615684" y="44714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28916" y="4453128"/>
            <a:ext cx="40645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4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administrativo protegido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33972" y="5093208"/>
            <a:ext cx="46588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das secretarias exige token de acesso.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5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0E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vamos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11055096" cy="896112"/>
          </a:xfrm>
          <a:prstGeom prst="roundRect">
            <a:avLst>
              <a:gd name="adj" fmla="val 12245"/>
            </a:avLst>
          </a:prstGeom>
          <a:solidFill>
            <a:srgbClr val="EAF3F4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31136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81328" y="2103120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secretarias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047488" y="2103120"/>
            <a:ext cx="63002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para novas áreas da Prefeitura, reaproveitando toda a base.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3035808"/>
            <a:ext cx="11055096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255264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81328" y="3127248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automática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047488" y="3127248"/>
            <a:ext cx="63002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se renova sozinho quando um documento muda (via n8n).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66928" y="4059936"/>
            <a:ext cx="11055096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79392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81328" y="4151376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oficial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047488" y="4151376"/>
            <a:ext cx="63002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o assistente ao canal onde o cidadão já está.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66928" y="5084064"/>
            <a:ext cx="11055096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CE6E9"/>
            </a:solidFill>
            <a:prstDash val="solid"/>
          </a:ln>
          <a:effectLst>
            <a:outerShdw sx="100000" sy="100000" kx="0" ky="0" algn="bl" rotWithShape="0" blurRad="101600" dist="38100" dir="5400000">
              <a:srgbClr val="0A2A3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0E7C8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81328" y="5175504"/>
            <a:ext cx="3566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e HTTPS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5047488" y="5175504"/>
            <a:ext cx="630021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6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próprio e conexão segura para acesso público.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4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943600" cy="5943600"/>
          </a:xfrm>
          <a:prstGeom prst="ellipse">
            <a:avLst/>
          </a:prstGeom>
          <a:solidFill>
            <a:srgbClr val="0E7C8A">
              <a:alpha val="4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396" y="109728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103601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atendimento melhor</a:t>
            </a:r>
            <a:endParaRPr lang="en-US" sz="4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cidadão de Aracaju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44348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 ·  Self-hosted (LGPD)  ·  Escalável  ·  Sem custo por pergunta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de Aracaju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Assistente Virtual — Prefeitura de Aracaju</dc:title>
  <dc:subject>PptxGenJS Presentation</dc:subject>
  <dc:creator>Prefeitura de Aracaju</dc:creator>
  <cp:lastModifiedBy>Prefeitura de Aracaju</cp:lastModifiedBy>
  <cp:revision>1</cp:revision>
  <dcterms:created xsi:type="dcterms:W3CDTF">2026-07-15T10:42:00Z</dcterms:created>
  <dcterms:modified xsi:type="dcterms:W3CDTF">2026-07-15T10:42:00Z</dcterms:modified>
</cp:coreProperties>
</file>